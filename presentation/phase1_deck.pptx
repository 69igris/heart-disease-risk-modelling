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18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59509c7-4002-17a3-fb2e-df6c31c1119d}">
          <p14:sldIdLst>
            <p14:sldId id="256"/>
            <p14:sldId id="257"/>
          </p14:sldIdLst>
        </p14:section>
        <p14:section name="Data &amp; EDA" id="{8c504554-1b9b-924e-2a19-fd8c501ba7a6}">
          <p14:sldIdLst>
            <p14:sldId id="258"/>
            <p14:sldId id="259"/>
            <p14:sldId id="260"/>
          </p14:sldIdLst>
        </p14:section>
        <p14:section name="Models &amp; results" id="{687b59e1-0d81-7f7f-8c56-ed5520075455}">
          <p14:sldIdLst>
            <p14:sldId id="261"/>
            <p14:sldId id="262"/>
            <p14:sldId id="263"/>
            <p14:sldId id="264"/>
          </p14:sldIdLst>
        </p14:section>
        <p14:section name="Interpretation" id="{cfa244e6-9b22-d711-46bf-9e45162eb42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covers EDA and classical models. The MLP and SHAP comparison is Phase 2 (Deep Learning).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and H2 come from the brief's 'identify the gap'. H3 is ours because the brief asks for calibration. Phase 1 answers them without a neural network so Phase 2 knows exactly what the MLP must 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is defined explicitly. Strongest signals: thal, cp, ca, oldpeak, exang. BP and cholesterol are weak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HR falls with age (-0.39) so we use an age-adjusted peak HR; BP rises with age (+0.29) so the BN has an age to BP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 points are clinical conventions fixed a priori, never learned, so they cannot leak test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 differs from NB only in structure; same estimator and inference. LogReg on discretised inputs isolates structure; LogReg continuous isolates discretisation.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pairwise AUC difference is significant (corrected p between 0.13 and 0.59). BN is slightly lowest on PR AUC and Brier.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supported. BN/NB are over-confident (slope ~0.5): correlated evidence is double counted. RF is under-confident. Logistic regression is near-calibrated, hence best Brier.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Binning cost -0.004 AUC for logistic regression, CI includes 0. RF vs logistic regression -0.003, p = 0.59. Dropping ca/thal lowers every model by 0.04-0.05 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decomposition matches pgmpy's variable elimination to 2e-16. Patient 252 (no disease) gets P=1.00 from several moderately positive terms multiplied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small historical single-centre dataset, ca and thal near-diagnostic, no external validation, not medical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Heart Disease Risk Modelling · Advanced ML Project 15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Heart Disease Risk Modelling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Phase 1: EDA, Bayesian Networks and Classical Baselines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Advanced Machine Learning · Project 15 · UCI Cleveland 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Aaryan Yadav · Shivam Mishra · Satyam Kumar · Himank Kaushik · Mohammed Yaseen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Prediction exercise only — not clinical decision support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Phase 1 tests</a:t>
            </a:r>
            <a:endParaRPr lang="en-US" sz="2800" dirty="0"/>
          </a:p>
        </p:txBody>
      </p:sp>
      <p:sp>
        <p:nvSpPr>
          <p:cNvPr id="4" name="h1 card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1 accent"/>
          <p:cNvSpPr/>
          <p:nvPr/>
        </p:nvSpPr>
        <p:spPr>
          <a:xfrm>
            <a:off x="457200" y="109728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1 head"/>
          <p:cNvSpPr txBox="1"/>
          <p:nvPr/>
        </p:nvSpPr>
        <p:spPr>
          <a:xfrm>
            <a:off x="6858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H1 · Discretisation</a:t>
            </a:r>
            <a:endParaRPr lang="en-US" sz="1800" dirty="0"/>
          </a:p>
        </p:txBody>
      </p:sp>
      <p:sp>
        <p:nvSpPr>
          <p:cNvPr id="7" name="h1 body"/>
          <p:cNvSpPr txBox="1"/>
          <p:nvPr/>
        </p:nvSpPr>
        <p:spPr>
          <a:xfrm>
            <a:off x="685800" y="169164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Coarse bins lose information vs continuous inputs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learner, bins vs continuous</a:t>
            </a:r>
            <a:endParaRPr lang="en-US" sz="1500" dirty="0"/>
          </a:p>
        </p:txBody>
      </p:sp>
      <p:sp>
        <p:nvSpPr>
          <p:cNvPr id="8" name="h2 card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2 accent"/>
          <p:cNvSpPr/>
          <p:nvPr/>
        </p:nvSpPr>
        <p:spPr>
          <a:xfrm>
            <a:off x="3246120" y="109728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h2 head"/>
          <p:cNvSpPr txBox="1"/>
          <p:nvPr/>
        </p:nvSpPr>
        <p:spPr>
          <a:xfrm>
            <a:off x="34747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H2 · Structure</a:t>
            </a:r>
            <a:endParaRPr lang="en-US" sz="1800" dirty="0"/>
          </a:p>
        </p:txBody>
      </p:sp>
      <p:sp>
        <p:nvSpPr>
          <p:cNvPr id="11" name="h2 body"/>
          <p:cNvSpPr txBox="1"/>
          <p:nvPr/>
        </p:nvSpPr>
        <p:spPr>
          <a:xfrm>
            <a:off x="3474720" y="169164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Domain graph beats Naive Bayes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Interaction-capable learner beats additive model</a:t>
            </a:r>
            <a:endParaRPr lang="en-US" sz="1500" dirty="0"/>
          </a:p>
        </p:txBody>
      </p:sp>
      <p:sp>
        <p:nvSpPr>
          <p:cNvPr id="12" name="h3 card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h3 accent"/>
          <p:cNvSpPr/>
          <p:nvPr/>
        </p:nvSpPr>
        <p:spPr>
          <a:xfrm>
            <a:off x="6035040" y="109728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h3 head"/>
          <p:cNvSpPr txBox="1"/>
          <p:nvPr/>
        </p:nvSpPr>
        <p:spPr>
          <a:xfrm>
            <a:off x="626364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H3 · Probabilities</a:t>
            </a:r>
            <a:endParaRPr lang="en-US" sz="1800" dirty="0"/>
          </a:p>
        </p:txBody>
      </p:sp>
      <p:sp>
        <p:nvSpPr>
          <p:cNvPr id="15" name="h3 body"/>
          <p:cNvSpPr txBox="1"/>
          <p:nvPr/>
        </p:nvSpPr>
        <p:spPr>
          <a:xfrm>
            <a:off x="6263640" y="169164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Families differ in calibration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 only in ranking ability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and what the EDA shows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303 patients, 13 predictors; target = existing angiographic disease (narrowing &gt; 50%): 139 pos / 164 neg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68% male: disease 55% in men vs 26% in women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Asymptomatic chest pain: 73% disease (n = 144)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 coloured vessels: 26% vs 68–85% with 1–3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Disease patients: older (56.6 vs 52.6), lower max HR (139 vs 158), more ST depression (1.57 vs 0.59)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6 missing values (ca 4, thal 2); no patient IDs, so independence is assumed</a:t>
            </a:r>
            <a:endParaRPr lang="en-US" sz="1300" dirty="0"/>
          </a:p>
        </p:txBody>
      </p:sp>
      <p:pic>
        <p:nvPicPr>
          <p:cNvPr id="5" name="Image 0" descr="fig eda categoric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97280"/>
            <a:ext cx="402336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EDA motivates the model structure</a:t>
            </a:r>
            <a:endParaRPr lang="en-US" sz="2800" dirty="0"/>
          </a:p>
        </p:txBody>
      </p:sp>
      <p:pic>
        <p:nvPicPr>
          <p:cNvPr id="4" name="Image 0" descr="fig eda corr h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760720" cy="2377440"/>
          </a:xfrm>
          <a:prstGeom prst="rect">
            <a:avLst/>
          </a:prstGeom>
        </p:spPr>
      </p:pic>
      <p:pic>
        <p:nvPicPr>
          <p:cNvPr id="5" name="Image 1" descr="fig eda signa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3063240"/>
            <a:ext cx="5486400" cy="17373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217920" y="109728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 heart rate falls with age (Spearman −0.39)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Blood pressure rises with age (+0.29) → edge age → BP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peak HR as % of (220 − age)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 signals (full-data, exploratory; associations, not causes): thal, cp, ca, oldpeak, exang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Fixed discretisation: modelling choices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840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Cut points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Rationale (not a diagnosis)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50, 60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decade bands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trestbps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common BP threshold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common 'high' cholesterol cut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peak HR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70%, 85% of (220 − age)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age-adjusted HR feature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oldpeak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 2 mm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ST-depression bands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fig bin rat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971800"/>
            <a:ext cx="82296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Models and fair-comparison protocol</a:t>
            </a:r>
            <a:endParaRPr lang="en-US" sz="2800" dirty="0"/>
          </a:p>
        </p:txBody>
      </p:sp>
      <p:pic>
        <p:nvPicPr>
          <p:cNvPr id="4" name="Image 0" descr="fig bn structur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4937760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40680" y="10972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Bayesian net (pgmpy)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14 nodes, 16 edges; risk factors → disease → findings; BDeu (ESS 5); exact inference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Naive Bayes: same pipeline, star graph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References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Logistic regression (binned / continuous), random forest, prior-only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Protocol: stratified 5-fold CV × 5 repeats (seed 2026) · same splits for all · training-fold-only preprocessing · ROC AUC, PR AUC (= average precision), sens./spec. at 0.5, Brier, ECE, calibration slope · 500-draw patient bootstrap + corrected t-test (exploratory; not an equivalence test)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Discrimination: no differences detected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097280"/>
                <a:gridCol w="1005840"/>
                <a:gridCol w="1005840"/>
                <a:gridCol w="10972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ROC AUC [95% CI]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 AUC (AP)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Sens.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Spec.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Brier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0.908 [0.874, 0.939]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Bayesian net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0.896 [0.861, 0.927]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LogReg (disc.)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0.907 [0.870, 0.938]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LogReg (cont.)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0.911 [0.875, 0.941]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0.889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0.908 [0.869, 0.938]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fig roc p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3017520"/>
            <a:ext cx="621792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real difference: calibration</a:t>
            </a:r>
            <a:endParaRPr lang="en-US" sz="2800" dirty="0"/>
          </a:p>
        </p:txBody>
      </p:sp>
      <p:pic>
        <p:nvPicPr>
          <p:cNvPr id="4" name="Image 0" descr="fig calib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3063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Calibration slope (ideal 1): NB 0.51 · BN 0.49 · LogReg 0.98 · RF 1.42  (below 1 = over-extreme, above 1 = compressed)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H1 and H2: not supported here</a:t>
            </a:r>
            <a:endParaRPr lang="en-US" sz="2800" dirty="0"/>
          </a:p>
        </p:txBody>
      </p:sp>
      <p:pic>
        <p:nvPicPr>
          <p:cNvPr id="4" name="Image 0" descr="fig abl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212080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69280" y="109728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Matched-HR control: binned − continuous ΔAUC −0.004 [−0.013, 0.004], p = 0.62; no loss detected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BN not better than NB; RF not better than logistic regression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 identical binned inputs BN trails logistic regression in Brier (+0.021): points to model form rather than binning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Without ca/thal: all models −0.04 to −0.05 AUC; BN still over-confident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Exact explanations from the Bayesian net</a:t>
            </a:r>
            <a:endParaRPr lang="en-US" sz="2800" dirty="0"/>
          </a:p>
        </p:txBody>
      </p:sp>
      <p:pic>
        <p:nvPicPr>
          <p:cNvPr id="4" name="Image 0" descr="fig bn weigh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8412480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Posterior log-odds = risk-factor term + one weight of evidence per finding (exact; checked on the 297 complete-evidence rows)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Illustration, not a tested cause: in patient 252 several positive findings add up to P = 1.00 (no disease)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Conclusions, limits and Phase 2</a:t>
            </a:r>
            <a:endParaRPr lang="en-US" sz="2800" dirty="0"/>
          </a:p>
        </p:txBody>
      </p:sp>
      <p:sp>
        <p:nvSpPr>
          <p:cNvPr id="4" name="con card"/>
          <p:cNvSpPr/>
          <p:nvPr/>
        </p:nvSpPr>
        <p:spPr>
          <a:xfrm>
            <a:off x="457200" y="1097280"/>
            <a:ext cx="39776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on accent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con head"/>
          <p:cNvSpPr txBox="1"/>
          <p:nvPr/>
        </p:nvSpPr>
        <p:spPr>
          <a:xfrm>
            <a:off x="68580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Phase 1 conclusions</a:t>
            </a:r>
            <a:endParaRPr lang="en-US" sz="1800" dirty="0"/>
          </a:p>
        </p:txBody>
      </p:sp>
      <p:sp>
        <p:nvSpPr>
          <p:cNvPr id="7" name="con body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Ranking is similar (AUC 0.896–0.911); no differences detected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benefit from bins or the domain graph here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BN and NB over-confident; LogReg near-calibrated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Clearest gap: probability quality, not ranking</a:t>
            </a:r>
            <a:endParaRPr lang="en-US" sz="1500" dirty="0"/>
          </a:p>
        </p:txBody>
      </p:sp>
      <p:sp>
        <p:nvSpPr>
          <p:cNvPr id="8" name="lim card"/>
          <p:cNvSpPr/>
          <p:nvPr/>
        </p:nvSpPr>
        <p:spPr>
          <a:xfrm>
            <a:off x="4709160" y="1097280"/>
            <a:ext cx="39776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lim accent"/>
          <p:cNvSpPr/>
          <p:nvPr/>
        </p:nvSpPr>
        <p:spPr>
          <a:xfrm>
            <a:off x="4709160" y="1097280"/>
            <a:ext cx="64008" cy="33832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0" name="lim head"/>
          <p:cNvSpPr txBox="1"/>
          <p:nvPr/>
        </p:nvSpPr>
        <p:spPr>
          <a:xfrm>
            <a:off x="493776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Limits and Phase 2</a:t>
            </a:r>
            <a:endParaRPr lang="en-US" sz="1800" dirty="0"/>
          </a:p>
        </p:txBody>
      </p:sp>
      <p:sp>
        <p:nvSpPr>
          <p:cNvPr id="11" name="lim body"/>
          <p:cNvSpPr txBox="1"/>
          <p:nvPr/>
        </p:nvSpPr>
        <p:spPr>
          <a:xfrm>
            <a:off x="493776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 = 303, one clinic, 1980s; no external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EDA-informed graph and cuts; no nested tuning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2 (planned): regularised MLP on the same splits, compared on AUC and calibration; SHAP vs BN weights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the literature says</a:t>
            </a:r>
            <a:endParaRPr lang="en-US" sz="2800" dirty="0"/>
          </a:p>
        </p:txBody>
      </p:sp>
      <p:sp>
        <p:nvSpPr>
          <p:cNvPr id="4" name="con card"/>
          <p:cNvSpPr/>
          <p:nvPr/>
        </p:nvSpPr>
        <p:spPr>
          <a:xfrm>
            <a:off x="457200" y="1097280"/>
            <a:ext cx="39776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con accent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con head"/>
          <p:cNvSpPr txBox="1"/>
          <p:nvPr/>
        </p:nvSpPr>
        <p:spPr>
          <a:xfrm>
            <a:off x="68580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Models and data</a:t>
            </a:r>
            <a:endParaRPr lang="en-US" sz="1800" dirty="0"/>
          </a:p>
        </p:txBody>
      </p:sp>
      <p:sp>
        <p:nvSpPr>
          <p:cNvPr id="7" name="con body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Cleveland data come from a multi-site coronary disease study (Detrano 1989)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BN = factorised joint, exact inference (Pearl 1988); BDeu smoothing (Heckerman 1995)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NB can rank well despite wrong independence (Domingos &amp; Pazzani 1997)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Richer graphs do not always beat NB (Friedman 1997)</a:t>
            </a:r>
            <a:endParaRPr lang="en-US" sz="1500" dirty="0"/>
          </a:p>
        </p:txBody>
      </p:sp>
      <p:sp>
        <p:nvSpPr>
          <p:cNvPr id="8" name="lim card"/>
          <p:cNvSpPr/>
          <p:nvPr/>
        </p:nvSpPr>
        <p:spPr>
          <a:xfrm>
            <a:off x="4709160" y="1097280"/>
            <a:ext cx="397764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lim accent"/>
          <p:cNvSpPr/>
          <p:nvPr/>
        </p:nvSpPr>
        <p:spPr>
          <a:xfrm>
            <a:off x="4709160" y="1097280"/>
            <a:ext cx="64008" cy="33832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0" name="lim head"/>
          <p:cNvSpPr txBox="1"/>
          <p:nvPr/>
        </p:nvSpPr>
        <p:spPr>
          <a:xfrm>
            <a:off x="493776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Probability quality and testing</a:t>
            </a:r>
            <a:endParaRPr lang="en-US" sz="1800" dirty="0"/>
          </a:p>
        </p:txBody>
      </p:sp>
      <p:sp>
        <p:nvSpPr>
          <p:cNvPr id="11" name="lim body"/>
          <p:cNvSpPr txBox="1"/>
          <p:nvPr/>
        </p:nvSpPr>
        <p:spPr>
          <a:xfrm>
            <a:off x="493776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NB pushes probabilities to 0/1; logistic regression is usually calibrated; forests compress (Niculescu-Mizil &amp; Caruana 2005)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Neural nets are often over-confident (Guo 2017): check calibration in Phase 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Corrected resampled t-test for repeated CV (Nadeau &amp; Bengio 2003)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rtRisk">
  <a:themeElements>
    <a:clrScheme name="HeartRisk">
      <a:dk1>
        <a:srgbClr val="1B263B"/>
      </a:dk1>
      <a:lt1>
        <a:srgbClr val="FFFFFF"/>
      </a:lt1>
      <a:dk2>
        <a:srgbClr val="1D3557"/>
      </a:dk2>
      <a:lt2>
        <a:srgbClr val="F1F5F9"/>
      </a:lt2>
      <a:accent1>
        <a:srgbClr val="2A6F97"/>
      </a:accent1>
      <a:accent2>
        <a:srgbClr val="B5179E"/>
      </a:accent2>
      <a:accent3>
        <a:srgbClr val="D98E04"/>
      </a:accent3>
      <a:accent4>
        <a:srgbClr val="2A9D8F"/>
      </a:accent4>
      <a:accent5>
        <a:srgbClr val="E63946"/>
      </a:accent5>
      <a:accent6>
        <a:srgbClr val="6C757D"/>
      </a:accent6>
      <a:hlink>
        <a:srgbClr val="2A6F97"/>
      </a:hlink>
      <a:folHlink>
        <a:srgbClr val="6C757D"/>
      </a:folHlink>
    </a:clrScheme>
    <a:fontScheme name="HeartRis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Risk Modelling - Phase 1</dc:title>
  <dc:subject>PptxGenJS Presentation</dc:subject>
  <dc:creator>Team Project 15</dc:creator>
  <cp:lastModifiedBy>Team Project 15</cp:lastModifiedBy>
  <cp:revision>1</cp:revision>
  <dcterms:created xsi:type="dcterms:W3CDTF">2026-10-25T18:38:32Z</dcterms:created>
  <dcterms:modified xsi:type="dcterms:W3CDTF">2026-10-25T18:38:32Z</dcterms:modified>
</cp:coreProperties>
</file>